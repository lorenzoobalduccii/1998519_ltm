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75"/>
    <p:restoredTop sz="94671"/>
  </p:normalViewPr>
  <p:slideViewPr>
    <p:cSldViewPr snapToGrid="0" snapToObjects="1">
      <p:cViewPr varScale="1">
        <p:scale>
          <a:sx n="82" d="100"/>
          <a:sy n="82" d="100"/>
        </p:scale>
        <p:origin x="27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7128" y="420624"/>
            <a:ext cx="35039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it-IT" sz="1600" dirty="0" err="1">
                <a:solidFill>
                  <a:srgbClr val="804A35"/>
                </a:solidFill>
                <a:latin typeface="Aptos"/>
              </a:rPr>
              <a:t>Laboratory</a:t>
            </a:r>
            <a:r>
              <a:rPr lang="it-IT" sz="1600" dirty="0">
                <a:solidFill>
                  <a:srgbClr val="804A35"/>
                </a:solidFill>
                <a:latin typeface="Aptos"/>
              </a:rPr>
              <a:t> of Advanced Programming</a:t>
            </a:r>
            <a:endParaRPr sz="1600" dirty="0">
              <a:solidFill>
                <a:srgbClr val="804A35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851233"/>
            <a:ext cx="92152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dirty="0">
                <a:solidFill>
                  <a:srgbClr val="1D1D1D"/>
                </a:solidFill>
                <a:latin typeface="Georgia"/>
              </a:rPr>
              <a:t>Distributed Fault-Tolerant Seismic Analysis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038098-75A2-7C5C-7E15-851E06C37104}"/>
              </a:ext>
            </a:extLst>
          </p:cNvPr>
          <p:cNvSpPr/>
          <p:nvPr/>
        </p:nvSpPr>
        <p:spPr>
          <a:xfrm>
            <a:off x="321395" y="346067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39496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 dirty="0">
                <a:solidFill>
                  <a:srgbClr val="1D1D1D"/>
                </a:solidFill>
                <a:latin typeface="Georgia"/>
              </a:rPr>
              <a:t>Problem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9875520" cy="1810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1D1D1D"/>
                </a:solidFill>
                <a:latin typeface="Aptos"/>
              </a:rPr>
              <a:t>Raw seismic streams are not directly useful for operational monitoring.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1D1D1D"/>
                </a:solidFill>
                <a:latin typeface="Aptos"/>
              </a:rPr>
              <a:t>Suspicious activity must be detected quickly, classified consistently, and retained for later investigation.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1D1D1D"/>
                </a:solidFill>
                <a:latin typeface="Aptos"/>
              </a:rPr>
              <a:t>The platform must continue to provide value even when one or more processing nodes become unavailable.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ECB888-2164-383D-615B-7BC5D5D74D73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39496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 dirty="0">
                <a:solidFill>
                  <a:srgbClr val="1D1D1D"/>
                </a:solidFill>
                <a:latin typeface="Georgia"/>
              </a:rPr>
              <a:t>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9875520" cy="20672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1D1D1D"/>
                </a:solidFill>
                <a:latin typeface="Aptos"/>
              </a:rPr>
              <a:t>Ingest live measurements from an external seismic simulator.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1D1D1D"/>
                </a:solidFill>
                <a:latin typeface="Aptos"/>
              </a:rPr>
              <a:t>Redistribute a normalized stream to replicated processing nodes.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1D1D1D"/>
                </a:solidFill>
                <a:latin typeface="Aptos"/>
              </a:rPr>
              <a:t>Classify events through FFT-based frequency analysis.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1D1D1D"/>
                </a:solidFill>
                <a:latin typeface="Aptos"/>
              </a:rPr>
              <a:t>Persist consolidated results in PostgreSQL.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1D1D1D"/>
                </a:solidFill>
                <a:latin typeface="Aptos"/>
              </a:rPr>
              <a:t>Expose live and historical visibility through a single dashboard.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C87390-4622-BA71-FC60-F92CB2565E29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12064" y="460398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 dirty="0">
                <a:solidFill>
                  <a:srgbClr val="1D1D1D"/>
                </a:solidFill>
                <a:latin typeface="Georgia"/>
              </a:rPr>
              <a:t>System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2064" y="2827628"/>
            <a:ext cx="2011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3504" y="3047084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 dirty="0">
                <a:solidFill>
                  <a:srgbClr val="24303B"/>
                </a:solidFill>
                <a:latin typeface="Aptos"/>
              </a:rPr>
              <a:t>External</a:t>
            </a:r>
          </a:p>
          <a:p>
            <a:pPr algn="ctr"/>
            <a:r>
              <a:rPr sz="1600" b="1" dirty="0">
                <a:solidFill>
                  <a:srgbClr val="24303B"/>
                </a:solidFill>
                <a:latin typeface="Aptos"/>
              </a:rPr>
              <a:t>Simulator</a:t>
            </a:r>
          </a:p>
        </p:txBody>
      </p:sp>
      <p:sp>
        <p:nvSpPr>
          <p:cNvPr id="6" name="Chevron 5"/>
          <p:cNvSpPr/>
          <p:nvPr/>
        </p:nvSpPr>
        <p:spPr>
          <a:xfrm>
            <a:off x="2551176" y="3129380"/>
            <a:ext cx="301752" cy="438912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52928" y="2827628"/>
            <a:ext cx="2011680" cy="105156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62863" y="3013628"/>
            <a:ext cx="991811" cy="61555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it-IT" b="1" dirty="0">
                <a:solidFill>
                  <a:srgbClr val="24303B"/>
                </a:solidFill>
                <a:latin typeface="Aptos"/>
              </a:rPr>
              <a:t>Fan-out</a:t>
            </a:r>
            <a:endParaRPr sz="1800" b="1" dirty="0">
              <a:solidFill>
                <a:srgbClr val="24303B"/>
              </a:solidFill>
              <a:latin typeface="Aptos"/>
            </a:endParaRPr>
          </a:p>
          <a:p>
            <a:pPr algn="ctr"/>
            <a:r>
              <a:rPr sz="1600" b="1" dirty="0">
                <a:solidFill>
                  <a:srgbClr val="24303B"/>
                </a:solidFill>
                <a:latin typeface="Aptos"/>
              </a:rPr>
              <a:t>Broker</a:t>
            </a:r>
          </a:p>
        </p:txBody>
      </p:sp>
      <p:sp>
        <p:nvSpPr>
          <p:cNvPr id="9" name="Chevron 8"/>
          <p:cNvSpPr/>
          <p:nvPr/>
        </p:nvSpPr>
        <p:spPr>
          <a:xfrm>
            <a:off x="4892040" y="3129380"/>
            <a:ext cx="301752" cy="438912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93792" y="2827628"/>
            <a:ext cx="2011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85232" y="3047084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 dirty="0">
                <a:solidFill>
                  <a:srgbClr val="24303B"/>
                </a:solidFill>
                <a:latin typeface="Aptos"/>
              </a:rPr>
              <a:t>Processing</a:t>
            </a:r>
          </a:p>
          <a:p>
            <a:pPr algn="ctr"/>
            <a:r>
              <a:rPr sz="1600" b="1" dirty="0">
                <a:solidFill>
                  <a:srgbClr val="24303B"/>
                </a:solidFill>
                <a:latin typeface="Aptos"/>
              </a:rPr>
              <a:t>Replicas x5</a:t>
            </a:r>
          </a:p>
        </p:txBody>
      </p:sp>
      <p:sp>
        <p:nvSpPr>
          <p:cNvPr id="12" name="Chevron 11"/>
          <p:cNvSpPr/>
          <p:nvPr/>
        </p:nvSpPr>
        <p:spPr>
          <a:xfrm>
            <a:off x="7232904" y="3129380"/>
            <a:ext cx="301752" cy="438912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534656" y="2827628"/>
            <a:ext cx="2011680" cy="105156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6096" y="3047084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4303B"/>
                </a:solidFill>
                <a:latin typeface="Aptos"/>
              </a:rPr>
              <a:t>Gateway +</a:t>
            </a:r>
          </a:p>
          <a:p>
            <a:pPr algn="ctr"/>
            <a:r>
              <a:rPr sz="1600" b="1">
                <a:solidFill>
                  <a:srgbClr val="24303B"/>
                </a:solidFill>
                <a:latin typeface="Aptos"/>
              </a:rPr>
              <a:t>PostgreSQL</a:t>
            </a:r>
          </a:p>
        </p:txBody>
      </p:sp>
      <p:sp>
        <p:nvSpPr>
          <p:cNvPr id="15" name="Chevron 14"/>
          <p:cNvSpPr/>
          <p:nvPr/>
        </p:nvSpPr>
        <p:spPr>
          <a:xfrm>
            <a:off x="9573768" y="3129380"/>
            <a:ext cx="301752" cy="438912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875520" y="2827628"/>
            <a:ext cx="2011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0" y="3047084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4303B"/>
                </a:solidFill>
                <a:latin typeface="Aptos"/>
              </a:rPr>
              <a:t>React</a:t>
            </a:r>
          </a:p>
          <a:p>
            <a:pPr algn="ctr"/>
            <a:r>
              <a:rPr sz="1600" b="1">
                <a:solidFill>
                  <a:srgbClr val="24303B"/>
                </a:solidFill>
                <a:latin typeface="Aptos"/>
              </a:rPr>
              <a:t>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18410C-21B4-AF5F-A5AB-CCCFCCD625E3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38912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 dirty="0">
                <a:solidFill>
                  <a:srgbClr val="1D1D1D"/>
                </a:solidFill>
                <a:latin typeface="Georgia"/>
              </a:rPr>
              <a:t>Implemented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5</a:t>
            </a:r>
          </a:p>
        </p:txBody>
      </p:sp>
      <p:pic>
        <p:nvPicPr>
          <p:cNvPr id="10" name="Picture 9" descr="A diagram of a diagram&#10;&#10;AI-generated content may be incorrect.">
            <a:extLst>
              <a:ext uri="{FF2B5EF4-FFF2-40B4-BE49-F238E27FC236}">
                <a16:creationId xmlns:a16="http://schemas.microsoft.com/office/drawing/2014/main" id="{295CA3B3-ED1E-C35E-CA64-0E231645F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389888"/>
            <a:ext cx="10332721" cy="434007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6D992E4-49B1-BD0A-89DA-1CA6D68C32AC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6915" y="222782"/>
            <a:ext cx="33673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dirty="0">
                <a:solidFill>
                  <a:srgbClr val="1D1D1D"/>
                </a:solidFill>
                <a:latin typeface="Georgia"/>
              </a:rPr>
              <a:t>End-to-End Runtime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6</a:t>
            </a:r>
          </a:p>
        </p:txBody>
      </p:sp>
      <p:pic>
        <p:nvPicPr>
          <p:cNvPr id="10" name="Picture 9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3D80BFAE-52CE-5ED9-F720-CF4220725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535" y="221219"/>
            <a:ext cx="7565018" cy="617958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2F9C23E-D39C-8FB0-2000-11FCB4595181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1405" y="326843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D1D1D"/>
                </a:solidFill>
                <a:latin typeface="Georgia"/>
              </a:rPr>
              <a:t>Services and Communication Protocols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24126"/>
            <a:ext cx="2743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393395"/>
            <a:ext cx="169533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Simulator </a:t>
            </a:r>
            <a:r>
              <a:rPr lang="it-IT" sz="1300" b="1" dirty="0">
                <a:solidFill>
                  <a:srgbClr val="24303B"/>
                </a:solidFill>
                <a:latin typeface="Aptos"/>
                <a:sym typeface="Wingdings" pitchFamily="2" charset="2"/>
              </a:rPr>
              <a:t></a:t>
            </a:r>
            <a:r>
              <a:rPr sz="1300" b="1" dirty="0">
                <a:solidFill>
                  <a:srgbClr val="24303B"/>
                </a:solidFill>
                <a:latin typeface="Aptos"/>
              </a:rPr>
              <a:t> Broker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635606"/>
            <a:ext cx="2414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49039" y="1224126"/>
            <a:ext cx="7315200" cy="64008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13631" y="1333854"/>
            <a:ext cx="69860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HTTP sensor discovery + per-sensor WebSocket streams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13631" y="1635606"/>
            <a:ext cx="6986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960" y="1919070"/>
            <a:ext cx="2743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083771"/>
            <a:ext cx="181799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Simulator </a:t>
            </a:r>
            <a:r>
              <a:rPr lang="it-IT" sz="1300" b="1" dirty="0">
                <a:solidFill>
                  <a:srgbClr val="24303B"/>
                </a:solidFill>
                <a:latin typeface="Aptos"/>
                <a:sym typeface="Wingdings" pitchFamily="2" charset="2"/>
              </a:rPr>
              <a:t></a:t>
            </a:r>
            <a:r>
              <a:rPr sz="1300" b="1" dirty="0">
                <a:solidFill>
                  <a:srgbClr val="24303B"/>
                </a:solidFill>
                <a:latin typeface="Aptos"/>
              </a:rPr>
              <a:t> Replicas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330550"/>
            <a:ext cx="2414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49039" y="1919070"/>
            <a:ext cx="7315200" cy="64008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13631" y="2094390"/>
            <a:ext cx="69860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SSE control stream for graceful shutdown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1" y="2330550"/>
            <a:ext cx="6986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" y="2614014"/>
            <a:ext cx="2743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2796894"/>
            <a:ext cx="157241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Broker </a:t>
            </a:r>
            <a:r>
              <a:rPr lang="it-IT" sz="1300" b="1" dirty="0">
                <a:solidFill>
                  <a:srgbClr val="24303B"/>
                </a:solidFill>
                <a:latin typeface="Aptos"/>
                <a:sym typeface="Wingdings" pitchFamily="2" charset="2"/>
              </a:rPr>
              <a:t></a:t>
            </a:r>
            <a:r>
              <a:rPr sz="1300" b="1" dirty="0">
                <a:solidFill>
                  <a:srgbClr val="24303B"/>
                </a:solidFill>
                <a:latin typeface="Aptos"/>
              </a:rPr>
              <a:t> Replicas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025494"/>
            <a:ext cx="2414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749039" y="2614014"/>
            <a:ext cx="7315200" cy="64008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13631" y="2796894"/>
            <a:ext cx="69860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WebSocket fan-out on /</a:t>
            </a:r>
            <a:r>
              <a:rPr sz="1300" b="1" dirty="0" err="1">
                <a:solidFill>
                  <a:srgbClr val="24303B"/>
                </a:solidFill>
                <a:latin typeface="Aptos"/>
              </a:rPr>
              <a:t>ws</a:t>
            </a:r>
            <a:r>
              <a:rPr sz="1300" b="1" dirty="0">
                <a:solidFill>
                  <a:srgbClr val="24303B"/>
                </a:solidFill>
                <a:latin typeface="Aptos"/>
              </a:rPr>
              <a:t>/ingest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13631" y="3025494"/>
            <a:ext cx="6986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60" y="3308957"/>
            <a:ext cx="2743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3469308"/>
            <a:ext cx="195662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Replicas </a:t>
            </a:r>
            <a:r>
              <a:rPr lang="it-IT" sz="1300" b="1" dirty="0">
                <a:solidFill>
                  <a:srgbClr val="24303B"/>
                </a:solidFill>
                <a:latin typeface="Aptos"/>
                <a:sym typeface="Wingdings" pitchFamily="2" charset="2"/>
              </a:rPr>
              <a:t></a:t>
            </a:r>
            <a:r>
              <a:rPr sz="1300" b="1" dirty="0">
                <a:solidFill>
                  <a:srgbClr val="24303B"/>
                </a:solidFill>
                <a:latin typeface="Aptos"/>
              </a:rPr>
              <a:t>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720438"/>
            <a:ext cx="2414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749039" y="3308957"/>
            <a:ext cx="7315200" cy="64008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13631" y="3487708"/>
            <a:ext cx="69860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SQL writes for sensors and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3631" y="3720438"/>
            <a:ext cx="6986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22960" y="4003902"/>
            <a:ext cx="2743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8572" y="4173176"/>
            <a:ext cx="173329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Replicas </a:t>
            </a:r>
            <a:r>
              <a:rPr lang="it-IT" sz="1300" b="1" dirty="0">
                <a:solidFill>
                  <a:srgbClr val="24303B"/>
                </a:solidFill>
                <a:latin typeface="Aptos"/>
                <a:sym typeface="Wingdings" pitchFamily="2" charset="2"/>
              </a:rPr>
              <a:t></a:t>
            </a:r>
            <a:r>
              <a:rPr sz="1300" b="1" dirty="0">
                <a:solidFill>
                  <a:srgbClr val="24303B"/>
                </a:solidFill>
                <a:latin typeface="Aptos"/>
              </a:rPr>
              <a:t> 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415382"/>
            <a:ext cx="2414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749039" y="4003902"/>
            <a:ext cx="7315200" cy="64008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13631" y="4186782"/>
            <a:ext cx="69860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HTTP POST /</a:t>
            </a:r>
            <a:r>
              <a:rPr sz="1300" b="1" dirty="0" err="1">
                <a:solidFill>
                  <a:srgbClr val="24303B"/>
                </a:solidFill>
                <a:latin typeface="Aptos"/>
              </a:rPr>
              <a:t>api</a:t>
            </a:r>
            <a:r>
              <a:rPr sz="1300" b="1" dirty="0">
                <a:solidFill>
                  <a:srgbClr val="24303B"/>
                </a:solidFill>
                <a:latin typeface="Aptos"/>
              </a:rPr>
              <a:t>/events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13631" y="4415382"/>
            <a:ext cx="6986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22960" y="4698845"/>
            <a:ext cx="2743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7552" y="4869593"/>
            <a:ext cx="175977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Gateway </a:t>
            </a:r>
            <a:r>
              <a:rPr lang="it-IT" sz="1300" b="1" dirty="0">
                <a:solidFill>
                  <a:srgbClr val="24303B"/>
                </a:solidFill>
                <a:latin typeface="Aptos"/>
                <a:sym typeface="Wingdings" pitchFamily="2" charset="2"/>
              </a:rPr>
              <a:t></a:t>
            </a:r>
            <a:r>
              <a:rPr sz="1300" b="1" dirty="0">
                <a:solidFill>
                  <a:srgbClr val="24303B"/>
                </a:solidFill>
                <a:latin typeface="Aptos"/>
              </a:rPr>
              <a:t> Frontend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5110325"/>
            <a:ext cx="2414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749039" y="4698845"/>
            <a:ext cx="7315200" cy="64008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13631" y="4868009"/>
            <a:ext cx="69860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REST APIs + WebSocket /</a:t>
            </a:r>
            <a:r>
              <a:rPr sz="1300" b="1" dirty="0" err="1">
                <a:solidFill>
                  <a:srgbClr val="24303B"/>
                </a:solidFill>
                <a:latin typeface="Aptos"/>
              </a:rPr>
              <a:t>ws</a:t>
            </a:r>
            <a:r>
              <a:rPr sz="1300" b="1" dirty="0">
                <a:solidFill>
                  <a:srgbClr val="24303B"/>
                </a:solidFill>
                <a:latin typeface="Aptos"/>
              </a:rPr>
              <a:t>/live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13631" y="5110325"/>
            <a:ext cx="6986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22960" y="5393789"/>
            <a:ext cx="27432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7552" y="5558490"/>
            <a:ext cx="173329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Gateway </a:t>
            </a:r>
            <a:r>
              <a:rPr lang="it-IT" sz="1300" b="1" dirty="0">
                <a:solidFill>
                  <a:srgbClr val="24303B"/>
                </a:solidFill>
                <a:latin typeface="Aptos"/>
                <a:sym typeface="Wingdings" pitchFamily="2" charset="2"/>
              </a:rPr>
              <a:t></a:t>
            </a:r>
            <a:r>
              <a:rPr sz="1300" b="1" dirty="0">
                <a:solidFill>
                  <a:srgbClr val="24303B"/>
                </a:solidFill>
                <a:latin typeface="Aptos"/>
              </a:rPr>
              <a:t> Replicas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5805269"/>
            <a:ext cx="2414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749039" y="5393789"/>
            <a:ext cx="7315200" cy="64008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13631" y="5553809"/>
            <a:ext cx="69860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Periodic GET /health polling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13631" y="5805269"/>
            <a:ext cx="698601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7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EC23C5-23B4-BD9B-02B3-C9A937042584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475487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 dirty="0">
                <a:solidFill>
                  <a:srgbClr val="1D1D1D"/>
                </a:solidFill>
                <a:latin typeface="Georgia"/>
              </a:rPr>
              <a:t>Internal Event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5074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08176" y="1581911"/>
            <a:ext cx="4745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Measurement envelope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874520"/>
            <a:ext cx="474573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80760" y="1463040"/>
            <a:ext cx="49834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84264" y="1581911"/>
            <a:ext cx="4654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Detected event envelope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1874520"/>
            <a:ext cx="465429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5840" y="1874519"/>
            <a:ext cx="4709160" cy="3749039"/>
          </a:xfrm>
          <a:prstGeom prst="roundRect">
            <a:avLst/>
          </a:prstGeom>
          <a:solidFill>
            <a:srgbClr val="26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2029968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>
                <a:solidFill>
                  <a:srgbClr val="E1E8E0"/>
                </a:solidFill>
                <a:latin typeface="Courier New"/>
              </a:rPr>
              <a:t>{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1E8E0"/>
                </a:solidFill>
                <a:latin typeface="Courier New"/>
              </a:rPr>
              <a:t>  "sensor_id": "sensor-08",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1E8E0"/>
                </a:solidFill>
                <a:latin typeface="Courier New"/>
              </a:rPr>
              <a:t>  "category": "datacenter",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1E8E0"/>
                </a:solidFill>
                <a:latin typeface="Courier New"/>
              </a:rPr>
              <a:t>  "region": "Replica Datacenter",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1E8E0"/>
                </a:solidFill>
                <a:latin typeface="Courier New"/>
              </a:rPr>
              <a:t>  "sampling_rate_hz": 20.0,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1E8E0"/>
                </a:solidFill>
                <a:latin typeface="Courier New"/>
              </a:rPr>
              <a:t>  "timestamp": "2026-03-25T00:00:00Z",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1E8E0"/>
                </a:solidFill>
                <a:latin typeface="Courier New"/>
              </a:rPr>
              <a:t>  "value": 0.123456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E1E8E0"/>
                </a:solidFill>
                <a:latin typeface="Courier New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4709160" cy="3749039"/>
          </a:xfrm>
          <a:prstGeom prst="roundRect">
            <a:avLst/>
          </a:prstGeom>
          <a:solidFill>
            <a:srgbClr val="26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2029968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dirty="0">
                <a:solidFill>
                  <a:srgbClr val="E1E8E0"/>
                </a:solidFill>
                <a:latin typeface="Courier New"/>
              </a:rPr>
              <a:t>{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sz="1400" dirty="0" err="1">
                <a:solidFill>
                  <a:srgbClr val="E1E8E0"/>
                </a:solidFill>
                <a:latin typeface="Courier New"/>
              </a:rPr>
              <a:t>event_id</a:t>
            </a:r>
            <a:r>
              <a:rPr sz="1400" dirty="0">
                <a:solidFill>
                  <a:srgbClr val="E1E8E0"/>
                </a:solidFill>
                <a:latin typeface="Courier New"/>
              </a:rPr>
              <a:t>": "sha256(</a:t>
            </a:r>
            <a:r>
              <a:rPr sz="1400" dirty="0" err="1">
                <a:solidFill>
                  <a:srgbClr val="E1E8E0"/>
                </a:solidFill>
                <a:latin typeface="Courier New"/>
              </a:rPr>
              <a:t>sensor|ts|type</a:t>
            </a:r>
            <a:r>
              <a:rPr sz="1400" dirty="0">
                <a:solidFill>
                  <a:srgbClr val="E1E8E0"/>
                </a:solidFill>
                <a:latin typeface="Courier New"/>
              </a:rPr>
              <a:t>)",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sz="1400" dirty="0" err="1">
                <a:solidFill>
                  <a:srgbClr val="E1E8E0"/>
                </a:solidFill>
                <a:latin typeface="Courier New"/>
              </a:rPr>
              <a:t>sensor_id</a:t>
            </a:r>
            <a:r>
              <a:rPr sz="1400" dirty="0">
                <a:solidFill>
                  <a:srgbClr val="E1E8E0"/>
                </a:solidFill>
                <a:latin typeface="Courier New"/>
              </a:rPr>
              <a:t>": "sensor-08",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sz="1400" dirty="0" err="1">
                <a:solidFill>
                  <a:srgbClr val="E1E8E0"/>
                </a:solidFill>
                <a:latin typeface="Courier New"/>
              </a:rPr>
              <a:t>event_type</a:t>
            </a:r>
            <a:r>
              <a:rPr sz="1400" dirty="0">
                <a:solidFill>
                  <a:srgbClr val="E1E8E0"/>
                </a:solidFill>
                <a:latin typeface="Courier New"/>
              </a:rPr>
              <a:t>": "earthquake",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sz="1400" dirty="0" err="1">
                <a:solidFill>
                  <a:srgbClr val="E1E8E0"/>
                </a:solidFill>
                <a:latin typeface="Courier New"/>
              </a:rPr>
              <a:t>last_sample_timestamp</a:t>
            </a:r>
            <a:r>
              <a:rPr sz="1400" dirty="0">
                <a:solidFill>
                  <a:srgbClr val="E1E8E0"/>
                </a:solidFill>
                <a:latin typeface="Courier New"/>
              </a:rPr>
              <a:t>": "2026-03-25T00:00:09.95Z",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sz="1400" dirty="0" err="1">
                <a:solidFill>
                  <a:srgbClr val="E1E8E0"/>
                </a:solidFill>
                <a:latin typeface="Courier New"/>
              </a:rPr>
              <a:t>peak_frequency</a:t>
            </a:r>
            <a:r>
              <a:rPr sz="1400" dirty="0">
                <a:solidFill>
                  <a:srgbClr val="E1E8E0"/>
                </a:solidFill>
                <a:latin typeface="Courier New"/>
              </a:rPr>
              <a:t>": 1.6,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E1E8E0"/>
                </a:solidFill>
                <a:latin typeface="Courier New"/>
              </a:rPr>
              <a:t>  "</a:t>
            </a:r>
            <a:r>
              <a:rPr sz="1400" dirty="0" err="1">
                <a:solidFill>
                  <a:srgbClr val="E1E8E0"/>
                </a:solidFill>
                <a:latin typeface="Courier New"/>
              </a:rPr>
              <a:t>peak_amplitude</a:t>
            </a:r>
            <a:r>
              <a:rPr sz="1400" dirty="0">
                <a:solidFill>
                  <a:srgbClr val="E1E8E0"/>
                </a:solidFill>
                <a:latin typeface="Courier New"/>
              </a:rPr>
              <a:t>": 4.0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E1E8E0"/>
                </a:solidFill>
                <a:latin typeface="Courier New"/>
              </a:rPr>
              <a:t>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4C6414-281F-F6AE-4DF6-272338A7A62E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8138" y="483059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 dirty="0">
                <a:solidFill>
                  <a:srgbClr val="1D1D1D"/>
                </a:solidFill>
                <a:latin typeface="Georgia"/>
              </a:rPr>
              <a:t>Custom Broker Role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813107"/>
            <a:ext cx="2468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39" y="2925293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39" y="3227045"/>
            <a:ext cx="213969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D1D1D"/>
                </a:solidFill>
                <a:latin typeface="Aptos"/>
              </a:rPr>
              <a:t>Discovers sensors dynamically through GET /api/devices/</a:t>
            </a:r>
          </a:p>
        </p:txBody>
      </p:sp>
      <p:sp>
        <p:nvSpPr>
          <p:cNvPr id="7" name="Chevron 6"/>
          <p:cNvSpPr/>
          <p:nvPr/>
        </p:nvSpPr>
        <p:spPr>
          <a:xfrm>
            <a:off x="3135778" y="3224587"/>
            <a:ext cx="256032" cy="384048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12997" y="2813107"/>
            <a:ext cx="2468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23309" y="2921262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3309" y="3223014"/>
            <a:ext cx="213969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D1D1D"/>
                </a:solidFill>
                <a:latin typeface="Aptos"/>
              </a:rPr>
              <a:t>Opens one upstream WebSocket stream for each sensor</a:t>
            </a:r>
          </a:p>
        </p:txBody>
      </p:sp>
      <p:sp>
        <p:nvSpPr>
          <p:cNvPr id="11" name="Chevron 10"/>
          <p:cNvSpPr/>
          <p:nvPr/>
        </p:nvSpPr>
        <p:spPr>
          <a:xfrm>
            <a:off x="5913881" y="3224587"/>
            <a:ext cx="256032" cy="384048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01918" y="2813107"/>
            <a:ext cx="2468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6510" y="2922835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6510" y="3224587"/>
            <a:ext cx="213969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D1D1D"/>
                </a:solidFill>
                <a:latin typeface="Aptos"/>
              </a:rPr>
              <a:t>Wraps raw samples into a normalized measurement envelope</a:t>
            </a:r>
          </a:p>
        </p:txBody>
      </p:sp>
      <p:sp>
        <p:nvSpPr>
          <p:cNvPr id="15" name="Chevron 14"/>
          <p:cNvSpPr/>
          <p:nvPr/>
        </p:nvSpPr>
        <p:spPr>
          <a:xfrm>
            <a:off x="8698230" y="3224587"/>
            <a:ext cx="256032" cy="384048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969207" y="2813107"/>
            <a:ext cx="24688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20083" y="2922835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Step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0083" y="3224587"/>
            <a:ext cx="213969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D1D1D"/>
                </a:solidFill>
                <a:latin typeface="Aptos"/>
              </a:rPr>
              <a:t>Broadcasts the same stream to every connected replica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C33AAD-AB1B-A2B1-841C-E781C408CAAD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7009" y="5257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 dirty="0">
                <a:solidFill>
                  <a:srgbClr val="1D1D1D"/>
                </a:solidFill>
                <a:latin typeface="Georgia"/>
              </a:rPr>
              <a:t>Detection and Classification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4592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78308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804A35"/>
                </a:solidFill>
                <a:latin typeface="Georgia"/>
              </a:rPr>
              <a:t>200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11813"/>
            <a:ext cx="171232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656056"/>
                </a:solidFill>
                <a:latin typeface="Aptos"/>
              </a:rPr>
              <a:t>samples per sliding 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64592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19272" y="178308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804A35"/>
                </a:solidFill>
                <a:latin typeface="Georgia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308775"/>
            <a:ext cx="18288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656056"/>
                </a:solidFill>
                <a:latin typeface="Aptos"/>
              </a:rPr>
              <a:t>new samples between analyses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1645920"/>
            <a:ext cx="2057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05272" y="178308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804A35"/>
                </a:solidFill>
                <a:latin typeface="Georgia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3252" y="2288093"/>
            <a:ext cx="19322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dirty="0">
                <a:solidFill>
                  <a:srgbClr val="656056"/>
                </a:solidFill>
                <a:latin typeface="Aptos"/>
              </a:rPr>
              <a:t>cooldown samples after a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45920"/>
            <a:ext cx="2880360" cy="123444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19871" y="1755648"/>
            <a:ext cx="2551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Noise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5" y="2124974"/>
            <a:ext cx="2715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D1D1D"/>
                </a:solidFill>
                <a:latin typeface="Aptos"/>
              </a:rPr>
              <a:t>Ignore frequencies below 0.5 Hz and amplitudes below 0.01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83280"/>
            <a:ext cx="2743200" cy="731520"/>
          </a:xfrm>
          <a:prstGeom prst="round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5478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0.5 - 3.0 Hz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3383280"/>
            <a:ext cx="6400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60520" y="3547872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D1D1D"/>
                </a:solidFill>
                <a:latin typeface="Aptos"/>
              </a:rPr>
              <a:t>Earthquake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261104"/>
            <a:ext cx="2743200" cy="731520"/>
          </a:xfrm>
          <a:prstGeom prst="roundRect">
            <a:avLst/>
          </a:prstGeom>
          <a:solidFill>
            <a:srgbClr val="243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425696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3.0 - 8.0 Hz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4261104"/>
            <a:ext cx="6400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60520" y="4425696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D1D1D"/>
                </a:solidFill>
                <a:latin typeface="Aptos"/>
              </a:rPr>
              <a:t>Conventional explosion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138928"/>
            <a:ext cx="2743200" cy="731520"/>
          </a:xfrm>
          <a:prstGeom prst="roundRect">
            <a:avLst/>
          </a:prstGeom>
          <a:solidFill>
            <a:srgbClr val="3E6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3035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&gt;= 8.0 Hz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5138928"/>
            <a:ext cx="6400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60520" y="530352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D1D1D"/>
                </a:solidFill>
                <a:latin typeface="Aptos"/>
              </a:rPr>
              <a:t>Nuclear-like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9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F82BFE-6C8E-A772-7CE3-64D6131A5B18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4531" y="501068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 dirty="0">
                <a:solidFill>
                  <a:srgbClr val="1D1D1D"/>
                </a:solidFill>
                <a:latin typeface="Georgia"/>
              </a:rPr>
              <a:t>Replicated Processing and Fault Tolerance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70632" y="3255264"/>
            <a:ext cx="1645920" cy="822960"/>
          </a:xfrm>
          <a:prstGeom prst="roundRect">
            <a:avLst/>
          </a:prstGeom>
          <a:solidFill>
            <a:srgbClr val="E9DFD6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53512" y="3511296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latin typeface="Aptos"/>
              </a:rPr>
              <a:t>Broker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5231" y="3253101"/>
            <a:ext cx="1463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2391" y="350913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latin typeface="Aptos"/>
              </a:rPr>
              <a:t>Replica 1</a:t>
            </a:r>
          </a:p>
        </p:txBody>
      </p:sp>
      <p:sp>
        <p:nvSpPr>
          <p:cNvPr id="8" name="Chevron 7"/>
          <p:cNvSpPr/>
          <p:nvPr/>
        </p:nvSpPr>
        <p:spPr>
          <a:xfrm>
            <a:off x="4472742" y="3519653"/>
            <a:ext cx="228600" cy="320040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79131" y="2106824"/>
            <a:ext cx="1463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016291" y="2339996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latin typeface="Aptos"/>
              </a:rPr>
              <a:t>Replica 2</a:t>
            </a:r>
          </a:p>
        </p:txBody>
      </p:sp>
      <p:sp>
        <p:nvSpPr>
          <p:cNvPr id="11" name="Chevron 10"/>
          <p:cNvSpPr/>
          <p:nvPr/>
        </p:nvSpPr>
        <p:spPr>
          <a:xfrm rot="16200000">
            <a:off x="3456432" y="2919836"/>
            <a:ext cx="228600" cy="320040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792981" y="3310128"/>
            <a:ext cx="1463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0141" y="358815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Aptos"/>
              </a:rPr>
              <a:t>Replica 3</a:t>
            </a:r>
          </a:p>
        </p:txBody>
      </p:sp>
      <p:sp>
        <p:nvSpPr>
          <p:cNvPr id="14" name="Chevron 13"/>
          <p:cNvSpPr/>
          <p:nvPr/>
        </p:nvSpPr>
        <p:spPr>
          <a:xfrm rot="10800000">
            <a:off x="2485152" y="3519652"/>
            <a:ext cx="228600" cy="320040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147611" y="4446018"/>
            <a:ext cx="146304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53073" y="4686547"/>
            <a:ext cx="10389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latin typeface="Aptos"/>
              </a:rPr>
              <a:t>Replica </a:t>
            </a:r>
            <a:r>
              <a:rPr lang="it-IT" sz="1600" b="1" dirty="0">
                <a:latin typeface="Aptos"/>
              </a:rPr>
              <a:t>5</a:t>
            </a:r>
            <a:endParaRPr sz="1600" b="1" dirty="0">
              <a:latin typeface="Aptos"/>
            </a:endParaRPr>
          </a:p>
        </p:txBody>
      </p:sp>
      <p:sp>
        <p:nvSpPr>
          <p:cNvPr id="17" name="Chevron 16"/>
          <p:cNvSpPr/>
          <p:nvPr/>
        </p:nvSpPr>
        <p:spPr>
          <a:xfrm rot="5400000">
            <a:off x="4053842" y="4093612"/>
            <a:ext cx="228600" cy="320040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741222" y="4455850"/>
            <a:ext cx="1463040" cy="79484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53273" y="4707457"/>
            <a:ext cx="10389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latin typeface="Aptos"/>
              </a:rPr>
              <a:t>Replica </a:t>
            </a:r>
            <a:r>
              <a:rPr lang="it-IT" sz="1600" b="1" dirty="0">
                <a:latin typeface="Aptos"/>
              </a:rPr>
              <a:t>4</a:t>
            </a:r>
          </a:p>
        </p:txBody>
      </p:sp>
      <p:sp>
        <p:nvSpPr>
          <p:cNvPr id="20" name="Chevron 19"/>
          <p:cNvSpPr/>
          <p:nvPr/>
        </p:nvSpPr>
        <p:spPr>
          <a:xfrm rot="5400000">
            <a:off x="2999232" y="4087368"/>
            <a:ext cx="228600" cy="320040"/>
          </a:xfrm>
          <a:prstGeom prst="chevron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87740" y="1737360"/>
            <a:ext cx="3939339" cy="31854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D1D1D"/>
                </a:solidFill>
                <a:latin typeface="Aptos"/>
              </a:rPr>
              <a:t>Five identical processing services receive the same measurement stream.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D1D1D"/>
                </a:solidFill>
                <a:latin typeface="Aptos"/>
              </a:rPr>
              <a:t>Each replica keeps independent per-sensor windows and can classify the same event autonomously.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D1D1D"/>
                </a:solidFill>
                <a:latin typeface="Aptos"/>
              </a:rPr>
              <a:t>If one replica fails after startup, the remaining replicas continue processing and forwarding detections.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1D1D1D"/>
                </a:solidFill>
                <a:latin typeface="Aptos"/>
              </a:rPr>
              <a:t>Graceful shutdown is supported through the simulator control SSE stream.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70663EE-691D-492D-7EAE-4A6BA24311D9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2527" y="481538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D1D1D"/>
                </a:solidFill>
                <a:latin typeface="Georgia"/>
              </a:rPr>
              <a:t>Persistence and Duplicate-Safe Consolidation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5074920" cy="34009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1D1D1D"/>
                </a:solidFill>
                <a:latin typeface="Aptos"/>
              </a:rPr>
              <a:t>Sensors are inserted once with ON CONFLICT DO NOTHING.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1D1D1D"/>
                </a:solidFill>
                <a:latin typeface="Aptos"/>
              </a:rPr>
              <a:t>Events use a deterministic </a:t>
            </a:r>
            <a:r>
              <a:rPr sz="1900" dirty="0" err="1">
                <a:solidFill>
                  <a:srgbClr val="1D1D1D"/>
                </a:solidFill>
                <a:latin typeface="Aptos"/>
              </a:rPr>
              <a:t>event_id</a:t>
            </a:r>
            <a:r>
              <a:rPr sz="1900" dirty="0">
                <a:solidFill>
                  <a:srgbClr val="1D1D1D"/>
                </a:solidFill>
                <a:latin typeface="Aptos"/>
              </a:rPr>
              <a:t> = sha256(</a:t>
            </a:r>
            <a:r>
              <a:rPr sz="1900" dirty="0" err="1">
                <a:solidFill>
                  <a:srgbClr val="1D1D1D"/>
                </a:solidFill>
                <a:latin typeface="Aptos"/>
              </a:rPr>
              <a:t>sensor_id|timestamp|event_type</a:t>
            </a:r>
            <a:r>
              <a:rPr sz="1900" dirty="0">
                <a:solidFill>
                  <a:srgbClr val="1D1D1D"/>
                </a:solidFill>
                <a:latin typeface="Aptos"/>
              </a:rPr>
              <a:t>).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1D1D1D"/>
                </a:solidFill>
                <a:latin typeface="Aptos"/>
              </a:rPr>
              <a:t>The events table enforces UNIQUE(</a:t>
            </a:r>
            <a:r>
              <a:rPr sz="1900" dirty="0" err="1">
                <a:solidFill>
                  <a:srgbClr val="1D1D1D"/>
                </a:solidFill>
                <a:latin typeface="Aptos"/>
              </a:rPr>
              <a:t>event_id</a:t>
            </a:r>
            <a:r>
              <a:rPr sz="1900" dirty="0">
                <a:solidFill>
                  <a:srgbClr val="1D1D1D"/>
                </a:solidFill>
                <a:latin typeface="Aptos"/>
              </a:rPr>
              <a:t>), consolidating identical detections from multiple replicas.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900" dirty="0">
                <a:solidFill>
                  <a:srgbClr val="1D1D1D"/>
                </a:solidFill>
                <a:latin typeface="Aptos"/>
              </a:rPr>
              <a:t>The gateway adds a second deduplication layer for live notifications through a recent-event cache.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898720"/>
            <a:ext cx="4023360" cy="1051560"/>
          </a:xfrm>
          <a:prstGeom prst="roundRect">
            <a:avLst/>
          </a:prstGeom>
          <a:solidFill>
            <a:srgbClr val="262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550568" y="2286000"/>
            <a:ext cx="408958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dirty="0">
                <a:solidFill>
                  <a:srgbClr val="E1E8E0"/>
                </a:solidFill>
                <a:latin typeface="Courier New"/>
              </a:rPr>
              <a:t>sha256(</a:t>
            </a:r>
            <a:r>
              <a:rPr sz="1200" dirty="0" err="1">
                <a:solidFill>
                  <a:srgbClr val="E1E8E0"/>
                </a:solidFill>
                <a:latin typeface="Courier New"/>
              </a:rPr>
              <a:t>sensor_id</a:t>
            </a:r>
            <a:r>
              <a:rPr sz="1200" dirty="0">
                <a:solidFill>
                  <a:srgbClr val="E1E8E0"/>
                </a:solidFill>
                <a:latin typeface="Courier New"/>
              </a:rPr>
              <a:t> | t</a:t>
            </a:r>
            <a:r>
              <a:rPr lang="en-GB" sz="1200" dirty="0" err="1">
                <a:solidFill>
                  <a:srgbClr val="E1E8E0"/>
                </a:solidFill>
                <a:latin typeface="Courier New"/>
              </a:rPr>
              <a:t>im</a:t>
            </a:r>
            <a:r>
              <a:rPr sz="1200" dirty="0" err="1">
                <a:solidFill>
                  <a:srgbClr val="E1E8E0"/>
                </a:solidFill>
                <a:latin typeface="Courier New"/>
              </a:rPr>
              <a:t>estamp</a:t>
            </a:r>
            <a:r>
              <a:rPr sz="1200" dirty="0">
                <a:solidFill>
                  <a:srgbClr val="E1E8E0"/>
                </a:solidFill>
                <a:latin typeface="Courier New"/>
              </a:rPr>
              <a:t> | </a:t>
            </a:r>
            <a:r>
              <a:rPr sz="1200" dirty="0" err="1">
                <a:solidFill>
                  <a:srgbClr val="E1E8E0"/>
                </a:solidFill>
                <a:latin typeface="Courier New"/>
              </a:rPr>
              <a:t>event_type</a:t>
            </a:r>
            <a:r>
              <a:rPr sz="1200" dirty="0">
                <a:solidFill>
                  <a:srgbClr val="E1E8E0"/>
                </a:solidFill>
                <a:latin typeface="Courier New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175924"/>
            <a:ext cx="4023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48272" y="3285652"/>
            <a:ext cx="3694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Sensors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8270" y="3529584"/>
            <a:ext cx="36941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 dirty="0" err="1">
                <a:solidFill>
                  <a:srgbClr val="1D1D1D"/>
                </a:solidFill>
                <a:latin typeface="Aptos"/>
              </a:rPr>
              <a:t>sensor_id</a:t>
            </a:r>
            <a:r>
              <a:rPr sz="1400" i="1" dirty="0">
                <a:solidFill>
                  <a:srgbClr val="1D1D1D"/>
                </a:solidFill>
                <a:latin typeface="Aptos"/>
              </a:rPr>
              <a:t> </a:t>
            </a:r>
            <a:r>
              <a:rPr sz="1400" dirty="0">
                <a:solidFill>
                  <a:srgbClr val="1D1D1D"/>
                </a:solidFill>
                <a:latin typeface="Aptos"/>
              </a:rPr>
              <a:t>as </a:t>
            </a:r>
            <a:r>
              <a:rPr sz="1400" b="1" dirty="0">
                <a:solidFill>
                  <a:srgbClr val="1D1D1D"/>
                </a:solidFill>
                <a:latin typeface="Aptos"/>
              </a:rPr>
              <a:t>primary key</a:t>
            </a:r>
            <a:r>
              <a:rPr sz="1400" dirty="0">
                <a:solidFill>
                  <a:srgbClr val="1D1D1D"/>
                </a:solidFill>
                <a:latin typeface="Aptos"/>
              </a:rPr>
              <a:t>; static metadata inserted once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.</a:t>
            </a:r>
            <a:endParaRPr sz="1400" dirty="0">
              <a:solidFill>
                <a:srgbClr val="1D1D1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0" y="4315968"/>
            <a:ext cx="4023360" cy="91440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2" y="4425696"/>
            <a:ext cx="36941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Events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0" y="4668998"/>
            <a:ext cx="36941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 dirty="0" err="1">
                <a:solidFill>
                  <a:srgbClr val="1D1D1D"/>
                </a:solidFill>
                <a:latin typeface="Aptos"/>
              </a:rPr>
              <a:t>event_id</a:t>
            </a:r>
            <a:r>
              <a:rPr sz="1400" i="1" dirty="0">
                <a:solidFill>
                  <a:srgbClr val="1D1D1D"/>
                </a:solidFill>
                <a:latin typeface="Aptos"/>
              </a:rPr>
              <a:t> </a:t>
            </a:r>
            <a:r>
              <a:rPr sz="1400" dirty="0">
                <a:solidFill>
                  <a:srgbClr val="1D1D1D"/>
                </a:solidFill>
                <a:latin typeface="Aptos"/>
              </a:rPr>
              <a:t>is </a:t>
            </a:r>
            <a:r>
              <a:rPr sz="1400" b="1" dirty="0">
                <a:solidFill>
                  <a:srgbClr val="1D1D1D"/>
                </a:solidFill>
                <a:latin typeface="Aptos"/>
              </a:rPr>
              <a:t>UNIQUE</a:t>
            </a:r>
            <a:r>
              <a:rPr sz="1400" dirty="0">
                <a:solidFill>
                  <a:srgbClr val="1D1D1D"/>
                </a:solidFill>
                <a:latin typeface="Aptos"/>
              </a:rPr>
              <a:t>; duplicate writes are ignored safely</a:t>
            </a:r>
            <a:r>
              <a:rPr lang="it-IT" sz="1400" dirty="0">
                <a:solidFill>
                  <a:srgbClr val="1D1D1D"/>
                </a:solidFill>
                <a:latin typeface="Aptos"/>
              </a:rPr>
              <a:t>.</a:t>
            </a:r>
            <a:endParaRPr sz="1400" dirty="0">
              <a:solidFill>
                <a:srgbClr val="1D1D1D"/>
              </a:solidFill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BA31EF-C357-A028-A693-2EC32C30DB5D}"/>
              </a:ext>
            </a:extLst>
          </p:cNvPr>
          <p:cNvSpPr/>
          <p:nvPr/>
        </p:nvSpPr>
        <p:spPr>
          <a:xfrm>
            <a:off x="250373" y="222782"/>
            <a:ext cx="66542" cy="1082235"/>
          </a:xfrm>
          <a:prstGeom prst="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04A35"/>
                </a:solidFill>
                <a:latin typeface="Aptos"/>
              </a:rPr>
              <a:t>SINGLE ENTRY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D1D1D"/>
                </a:solidFill>
                <a:latin typeface="Georgia"/>
              </a:rPr>
              <a:t>Gateway and API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9519" y="3072384"/>
            <a:ext cx="2103120" cy="914400"/>
          </a:xfrm>
          <a:prstGeom prst="roundRect">
            <a:avLst/>
          </a:prstGeom>
          <a:solidFill>
            <a:srgbClr val="80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3839" y="333756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463040"/>
            <a:ext cx="7040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67911" y="1572768"/>
            <a:ext cx="6711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Live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911" y="1783080"/>
            <a:ext cx="67116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D1D1D"/>
                </a:solidFill>
                <a:latin typeface="Aptos"/>
              </a:rPr>
              <a:t>POST /</a:t>
            </a:r>
            <a:r>
              <a:rPr sz="1400" dirty="0" err="1">
                <a:solidFill>
                  <a:srgbClr val="1D1D1D"/>
                </a:solidFill>
                <a:latin typeface="Aptos"/>
              </a:rPr>
              <a:t>api</a:t>
            </a:r>
            <a:r>
              <a:rPr sz="1400" dirty="0">
                <a:solidFill>
                  <a:srgbClr val="1D1D1D"/>
                </a:solidFill>
                <a:latin typeface="Aptos"/>
              </a:rPr>
              <a:t>/events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212848"/>
            <a:ext cx="7040880" cy="658368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67911" y="2322576"/>
            <a:ext cx="6711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7911" y="2514600"/>
            <a:ext cx="67116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D1D1D"/>
                </a:solidFill>
                <a:latin typeface="Aptos"/>
              </a:rPr>
              <a:t>GET /</a:t>
            </a:r>
            <a:r>
              <a:rPr sz="1400" dirty="0" err="1">
                <a:solidFill>
                  <a:srgbClr val="1D1D1D"/>
                </a:solidFill>
                <a:latin typeface="Aptos"/>
              </a:rPr>
              <a:t>api</a:t>
            </a:r>
            <a:r>
              <a:rPr sz="1400" dirty="0">
                <a:solidFill>
                  <a:srgbClr val="1D1D1D"/>
                </a:solidFill>
                <a:latin typeface="Aptos"/>
              </a:rPr>
              <a:t>/system/status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2962656"/>
            <a:ext cx="7040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67911" y="3072384"/>
            <a:ext cx="6711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1" y="3273551"/>
            <a:ext cx="67116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D1D1D"/>
                </a:solidFill>
                <a:latin typeface="Aptos"/>
              </a:rPr>
              <a:t>GET /</a:t>
            </a:r>
            <a:r>
              <a:rPr sz="1400" dirty="0" err="1">
                <a:solidFill>
                  <a:srgbClr val="1D1D1D"/>
                </a:solidFill>
                <a:latin typeface="Aptos"/>
              </a:rPr>
              <a:t>api</a:t>
            </a:r>
            <a:r>
              <a:rPr sz="1400" dirty="0">
                <a:solidFill>
                  <a:srgbClr val="1D1D1D"/>
                </a:solidFill>
                <a:latin typeface="Aptos"/>
              </a:rPr>
              <a:t>/history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712463"/>
            <a:ext cx="7040880" cy="658368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67911" y="3822191"/>
            <a:ext cx="6711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Sensors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1" y="4023360"/>
            <a:ext cx="67116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D1D1D"/>
                </a:solidFill>
                <a:latin typeface="Aptos"/>
              </a:rPr>
              <a:t>GET /</a:t>
            </a:r>
            <a:r>
              <a:rPr sz="1400" dirty="0" err="1">
                <a:solidFill>
                  <a:srgbClr val="1D1D1D"/>
                </a:solidFill>
                <a:latin typeface="Aptos"/>
              </a:rPr>
              <a:t>api</a:t>
            </a:r>
            <a:r>
              <a:rPr sz="1400" dirty="0">
                <a:solidFill>
                  <a:srgbClr val="1D1D1D"/>
                </a:solidFill>
                <a:latin typeface="Aptos"/>
              </a:rPr>
              <a:t>/sensors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4462272"/>
            <a:ext cx="7040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67911" y="4572000"/>
            <a:ext cx="6711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Event details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1" y="4764024"/>
            <a:ext cx="67116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D1D1D"/>
                </a:solidFill>
                <a:latin typeface="Aptos"/>
              </a:rPr>
              <a:t>GET /</a:t>
            </a:r>
            <a:r>
              <a:rPr sz="1400" dirty="0" err="1">
                <a:solidFill>
                  <a:srgbClr val="1D1D1D"/>
                </a:solidFill>
                <a:latin typeface="Aptos"/>
              </a:rPr>
              <a:t>api</a:t>
            </a:r>
            <a:r>
              <a:rPr sz="1400" dirty="0">
                <a:solidFill>
                  <a:srgbClr val="1D1D1D"/>
                </a:solidFill>
                <a:latin typeface="Aptos"/>
              </a:rPr>
              <a:t>/events/{</a:t>
            </a:r>
            <a:r>
              <a:rPr sz="1400" dirty="0" err="1">
                <a:solidFill>
                  <a:srgbClr val="1D1D1D"/>
                </a:solidFill>
                <a:latin typeface="Aptos"/>
              </a:rPr>
              <a:t>event_id</a:t>
            </a:r>
            <a:r>
              <a:rPr sz="1400" dirty="0">
                <a:solidFill>
                  <a:srgbClr val="1D1D1D"/>
                </a:solidFill>
                <a:latin typeface="Aptos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5212080"/>
            <a:ext cx="7040880" cy="658368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67911" y="5321808"/>
            <a:ext cx="6711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Live updates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1" y="5550408"/>
            <a:ext cx="67116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D1D1D"/>
                </a:solidFill>
                <a:latin typeface="Aptos"/>
              </a:rPr>
              <a:t>WS /</a:t>
            </a:r>
            <a:r>
              <a:rPr sz="1400" dirty="0" err="1">
                <a:solidFill>
                  <a:srgbClr val="1D1D1D"/>
                </a:solidFill>
                <a:latin typeface="Aptos"/>
              </a:rPr>
              <a:t>ws</a:t>
            </a:r>
            <a:r>
              <a:rPr sz="1400" dirty="0">
                <a:solidFill>
                  <a:srgbClr val="1D1D1D"/>
                </a:solidFill>
                <a:latin typeface="Aptos"/>
              </a:rPr>
              <a:t>/live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04A35"/>
                </a:solidFill>
                <a:latin typeface="Aptos"/>
              </a:rPr>
              <a:t>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D1D1D"/>
                </a:solidFill>
                <a:latin typeface="Georgia"/>
              </a:rPr>
              <a:t>Dashboard Overview</a:t>
            </a:r>
          </a:p>
        </p:txBody>
      </p:sp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26293"/>
            <a:ext cx="5236192" cy="219031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1111760"/>
            <a:ext cx="155448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2980" y="1158758"/>
            <a:ext cx="1234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24303B"/>
                </a:solidFill>
                <a:latin typeface="Aptos"/>
              </a:rPr>
              <a:t>Sensors</a:t>
            </a:r>
          </a:p>
        </p:txBody>
      </p:sp>
      <p:pic>
        <p:nvPicPr>
          <p:cNvPr id="7" name="Picture 6" descr="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687" y="1523534"/>
            <a:ext cx="5144753" cy="219912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76686" y="1117119"/>
            <a:ext cx="155448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536706" y="1172572"/>
            <a:ext cx="1234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24303B"/>
                </a:solidFill>
                <a:latin typeface="Aptos"/>
              </a:rPr>
              <a:t>Historical Events</a:t>
            </a:r>
          </a:p>
        </p:txBody>
      </p:sp>
      <p:pic>
        <p:nvPicPr>
          <p:cNvPr id="10" name="Picture 9" descr="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62411"/>
            <a:ext cx="5236193" cy="210474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6113" y="3766270"/>
            <a:ext cx="155448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6133" y="3800562"/>
            <a:ext cx="1234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24303B"/>
                </a:solidFill>
                <a:latin typeface="Aptos"/>
              </a:rPr>
              <a:t>Event Details</a:t>
            </a:r>
          </a:p>
        </p:txBody>
      </p:sp>
      <p:pic>
        <p:nvPicPr>
          <p:cNvPr id="13" name="Picture 12" descr="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6686" y="4162411"/>
            <a:ext cx="5236193" cy="210474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376686" y="3822656"/>
            <a:ext cx="1554480" cy="273877"/>
          </a:xfrm>
          <a:prstGeom prst="roundRect">
            <a:avLst/>
          </a:prstGeom>
          <a:solidFill>
            <a:srgbClr val="FFFFFF"/>
          </a:solidFill>
          <a:ln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1279" y="3822657"/>
            <a:ext cx="12344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24303B"/>
                </a:solidFill>
                <a:latin typeface="Aptos"/>
              </a:rPr>
              <a:t>System Health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04A35"/>
                </a:solidFill>
                <a:latin typeface="Aptos"/>
              </a:rPr>
              <a:t>OPERATOR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D1D1D"/>
                </a:solidFill>
                <a:latin typeface="Georgia"/>
              </a:rPr>
              <a:t>Historical Investigation and Event Details</a:t>
            </a:r>
          </a:p>
        </p:txBody>
      </p:sp>
      <p:pic>
        <p:nvPicPr>
          <p:cNvPr id="4" name="Picture 3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5074920" cy="3337560"/>
          </a:xfrm>
          <a:prstGeom prst="rect">
            <a:avLst/>
          </a:prstGeom>
        </p:spPr>
      </p:pic>
      <p:pic>
        <p:nvPicPr>
          <p:cNvPr id="5" name="Picture 4" descr="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45920"/>
            <a:ext cx="4983480" cy="3337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5120640"/>
            <a:ext cx="50749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5230368"/>
            <a:ext cx="47457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Historical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423080"/>
            <a:ext cx="4745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D1D1D"/>
                </a:solidFill>
                <a:latin typeface="Aptos"/>
              </a:rPr>
              <a:t>Historical Events combines persisted detections with compatible live updates and supports filtering by event type, sensor, region, and minimum peak amplitude.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5120640"/>
            <a:ext cx="4983480" cy="109728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45352" y="5230368"/>
            <a:ext cx="4654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Detailed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5399532"/>
            <a:ext cx="46542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1D1D1D"/>
                </a:solidFill>
                <a:latin typeface="Aptos"/>
              </a:rPr>
              <a:t>Event Details enriches one event with classification, dominant frequency, amplitude, coordinates, category, and related sensor </a:t>
            </a:r>
            <a:r>
              <a:rPr lang="it-IT" sz="1400" dirty="0" err="1">
                <a:solidFill>
                  <a:srgbClr val="1D1D1D"/>
                </a:solidFill>
                <a:latin typeface="Aptos"/>
              </a:rPr>
              <a:t>details</a:t>
            </a:r>
            <a:r>
              <a:rPr sz="1400" dirty="0">
                <a:solidFill>
                  <a:srgbClr val="1D1D1D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04A35"/>
                </a:solidFill>
                <a:latin typeface="Aptos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D1D1D"/>
                </a:solidFill>
                <a:latin typeface="Georgia"/>
              </a:rPr>
              <a:t>System Health and Degraded Operation</a:t>
            </a:r>
          </a:p>
        </p:txBody>
      </p:sp>
      <p:pic>
        <p:nvPicPr>
          <p:cNvPr id="4" name="Picture 3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6217920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60920" y="1783080"/>
            <a:ext cx="4008120" cy="398570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900" dirty="0">
                <a:solidFill>
                  <a:srgbClr val="1D1D1D"/>
                </a:solidFill>
                <a:latin typeface="Aptos"/>
              </a:rPr>
              <a:t>The gateway </a:t>
            </a:r>
            <a:r>
              <a:rPr lang="it-IT" sz="1900" dirty="0" err="1">
                <a:solidFill>
                  <a:srgbClr val="1D1D1D"/>
                </a:solidFill>
                <a:latin typeface="Aptos"/>
              </a:rPr>
              <a:t>request</a:t>
            </a:r>
            <a:r>
              <a:rPr lang="it-IT" sz="1900" dirty="0">
                <a:solidFill>
                  <a:srgbClr val="1D1D1D"/>
                </a:solidFill>
                <a:latin typeface="Aptos"/>
              </a:rPr>
              <a:t> </a:t>
            </a:r>
            <a:r>
              <a:rPr sz="1900" dirty="0">
                <a:solidFill>
                  <a:srgbClr val="1D1D1D"/>
                </a:solidFill>
                <a:latin typeface="Aptos"/>
              </a:rPr>
              <a:t>all replica </a:t>
            </a:r>
            <a:r>
              <a:rPr lang="en-GB" sz="1900" dirty="0">
                <a:solidFill>
                  <a:srgbClr val="1D1D1D"/>
                </a:solidFill>
                <a:latin typeface="Aptos"/>
              </a:rPr>
              <a:t>/health </a:t>
            </a:r>
            <a:r>
              <a:rPr sz="1900" dirty="0">
                <a:solidFill>
                  <a:srgbClr val="1D1D1D"/>
                </a:solidFill>
                <a:latin typeface="Aptos"/>
              </a:rPr>
              <a:t>endpoints every 5 seconds.</a:t>
            </a:r>
          </a:p>
          <a:p>
            <a:pPr>
              <a:spcAft>
                <a:spcPts val="1000"/>
              </a:spcAft>
            </a:pPr>
            <a:r>
              <a:rPr sz="1900" dirty="0">
                <a:solidFill>
                  <a:srgbClr val="1D1D1D"/>
                </a:solidFill>
                <a:latin typeface="Aptos"/>
              </a:rPr>
              <a:t>The UI reports total, healthy, and unavailable replicas, plus last heartbeat and unavailable-since timestamps.</a:t>
            </a:r>
          </a:p>
          <a:p>
            <a:pPr>
              <a:spcAft>
                <a:spcPts val="1000"/>
              </a:spcAft>
            </a:pPr>
            <a:r>
              <a:rPr sz="1900" dirty="0">
                <a:solidFill>
                  <a:srgbClr val="1D1D1D"/>
                </a:solidFill>
                <a:latin typeface="Aptos"/>
              </a:rPr>
              <a:t>A short health-event log keeps node failures visible over time.</a:t>
            </a:r>
          </a:p>
          <a:p>
            <a:pPr>
              <a:spcAft>
                <a:spcPts val="1000"/>
              </a:spcAft>
            </a:pPr>
            <a:r>
              <a:rPr sz="1900" dirty="0">
                <a:solidFill>
                  <a:srgbClr val="1D1D1D"/>
                </a:solidFill>
                <a:latin typeface="Aptos"/>
              </a:rPr>
              <a:t>The system remains usable with replica loss after startup because healthy replicas continue processing.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04A35"/>
                </a:solidFill>
                <a:latin typeface="Aptos"/>
              </a:rPr>
              <a:t>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D1D1D"/>
                </a:solidFill>
                <a:latin typeface="Georgia"/>
              </a:rPr>
              <a:t>Docker Compose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2834640" cy="54864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33271" y="1527048"/>
            <a:ext cx="2505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1828800"/>
            <a:ext cx="2505456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794760" y="1417320"/>
            <a:ext cx="1417320" cy="54864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59352" y="1527048"/>
            <a:ext cx="10881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1828800"/>
            <a:ext cx="1088136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94960" y="1417320"/>
            <a:ext cx="5440680" cy="548640"/>
          </a:xfrm>
          <a:prstGeom prst="roundRect">
            <a:avLst/>
          </a:prstGeom>
          <a:solidFill>
            <a:srgbClr val="E9DFD6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59552" y="1527048"/>
            <a:ext cx="5111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9552" y="1828800"/>
            <a:ext cx="5111496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2029968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1" y="2183056"/>
            <a:ext cx="2505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simulator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2441448"/>
            <a:ext cx="250545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94760" y="2029968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59352" y="2190135"/>
            <a:ext cx="10881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8080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9352" y="2441448"/>
            <a:ext cx="108813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394960" y="2029968"/>
            <a:ext cx="5440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59552" y="2189152"/>
            <a:ext cx="5111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External source: discovery, streams,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9552" y="2441448"/>
            <a:ext cx="511149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8680" y="2651760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33271" y="2813697"/>
            <a:ext cx="2505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custom-broker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3063240"/>
            <a:ext cx="250545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794760" y="2651760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59352" y="2788920"/>
            <a:ext cx="10881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9000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9352" y="3063240"/>
            <a:ext cx="108813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394960" y="2651760"/>
            <a:ext cx="5440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59552" y="2810256"/>
            <a:ext cx="5111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Ingestion and fan-out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3063240"/>
            <a:ext cx="511149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68680" y="3273552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3271" y="3431557"/>
            <a:ext cx="2505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303B"/>
                </a:solidFill>
                <a:latin typeface="Aptos"/>
              </a:rPr>
              <a:t>gateway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" y="3685032"/>
            <a:ext cx="250545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794760" y="3273552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59352" y="3429000"/>
            <a:ext cx="10881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8001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59352" y="3685032"/>
            <a:ext cx="108813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394960" y="3273552"/>
            <a:ext cx="5440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59552" y="3429983"/>
            <a:ext cx="5111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Single API and live-update entry 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59552" y="3685032"/>
            <a:ext cx="511149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68680" y="3895344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33271" y="4055364"/>
            <a:ext cx="2505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 err="1">
                <a:solidFill>
                  <a:srgbClr val="24303B"/>
                </a:solidFill>
                <a:latin typeface="Aptos"/>
              </a:rPr>
              <a:t>postgres</a:t>
            </a:r>
            <a:endParaRPr sz="1300" b="1" dirty="0">
              <a:solidFill>
                <a:srgbClr val="24303B"/>
              </a:solidFill>
              <a:latin typeface="Apto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33271" y="4306824"/>
            <a:ext cx="250545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794760" y="3895344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59352" y="4055364"/>
            <a:ext cx="10881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5432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59352" y="4306824"/>
            <a:ext cx="108813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394960" y="3895344"/>
            <a:ext cx="5440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559552" y="4054823"/>
            <a:ext cx="5111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Persistent storage for sensors and events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59552" y="4306824"/>
            <a:ext cx="511149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68680" y="4517136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33271" y="4654296"/>
            <a:ext cx="25054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frontend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" y="4928616"/>
            <a:ext cx="250545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3794760" y="4517136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959352" y="4663440"/>
            <a:ext cx="95410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3000 </a:t>
            </a:r>
            <a:r>
              <a:rPr lang="it-IT" sz="1300" b="1" dirty="0">
                <a:solidFill>
                  <a:srgbClr val="24303B"/>
                </a:solidFill>
                <a:latin typeface="Aptos"/>
                <a:sym typeface="Wingdings" pitchFamily="2" charset="2"/>
              </a:rPr>
              <a:t></a:t>
            </a:r>
            <a:r>
              <a:rPr sz="1300" b="1" dirty="0">
                <a:solidFill>
                  <a:srgbClr val="24303B"/>
                </a:solidFill>
                <a:latin typeface="Aptos"/>
              </a:rPr>
              <a:t> 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59352" y="4928616"/>
            <a:ext cx="108813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394960" y="4517136"/>
            <a:ext cx="5440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559552" y="4663440"/>
            <a:ext cx="5111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React dashboard served by Nginx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59552" y="4928616"/>
            <a:ext cx="511149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868680" y="5138928"/>
            <a:ext cx="2834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33271" y="5285232"/>
            <a:ext cx="212769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replica-1 </a:t>
            </a:r>
            <a:r>
              <a:rPr lang="it-IT" sz="1300" b="1" dirty="0">
                <a:solidFill>
                  <a:srgbClr val="24303B"/>
                </a:solidFill>
                <a:latin typeface="Aptos"/>
                <a:sym typeface="Wingdings" pitchFamily="2" charset="2"/>
              </a:rPr>
              <a:t> </a:t>
            </a:r>
            <a:r>
              <a:rPr sz="1300" b="1" dirty="0">
                <a:solidFill>
                  <a:srgbClr val="24303B"/>
                </a:solidFill>
                <a:latin typeface="Aptos"/>
              </a:rPr>
              <a:t>...</a:t>
            </a:r>
            <a:r>
              <a:rPr lang="it-IT" sz="1300" b="1" dirty="0">
                <a:solidFill>
                  <a:srgbClr val="24303B"/>
                </a:solidFill>
                <a:latin typeface="Aptos"/>
              </a:rPr>
              <a:t> </a:t>
            </a:r>
            <a:r>
              <a:rPr lang="it-IT" sz="1300" b="1" dirty="0">
                <a:solidFill>
                  <a:srgbClr val="24303B"/>
                </a:solidFill>
                <a:latin typeface="Aptos"/>
                <a:sym typeface="Wingdings" pitchFamily="2" charset="2"/>
              </a:rPr>
              <a:t></a:t>
            </a:r>
            <a:r>
              <a:rPr sz="1300" b="1" dirty="0">
                <a:solidFill>
                  <a:srgbClr val="24303B"/>
                </a:solidFill>
                <a:latin typeface="Aptos"/>
              </a:rPr>
              <a:t> replica-5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271" y="5550408"/>
            <a:ext cx="250545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3794760" y="5138928"/>
            <a:ext cx="14173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868887" y="5294596"/>
            <a:ext cx="126906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1300" b="1" dirty="0">
                <a:solidFill>
                  <a:srgbClr val="24303B"/>
                </a:solidFill>
                <a:latin typeface="Aptos"/>
              </a:rPr>
              <a:t>I</a:t>
            </a:r>
            <a:r>
              <a:rPr sz="1300" b="1" dirty="0" err="1">
                <a:solidFill>
                  <a:srgbClr val="24303B"/>
                </a:solidFill>
                <a:latin typeface="Aptos"/>
              </a:rPr>
              <a:t>nternal</a:t>
            </a:r>
            <a:r>
              <a:rPr lang="it-IT" sz="1300" b="1" dirty="0">
                <a:solidFill>
                  <a:srgbClr val="24303B"/>
                </a:solidFill>
                <a:latin typeface="Aptos"/>
              </a:rPr>
              <a:t> (8000)</a:t>
            </a:r>
            <a:endParaRPr sz="1300" b="1" dirty="0">
              <a:solidFill>
                <a:srgbClr val="24303B"/>
              </a:solidFill>
              <a:latin typeface="Aptos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959352" y="5550408"/>
            <a:ext cx="108813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5394960" y="5138928"/>
            <a:ext cx="54406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59552" y="5285232"/>
            <a:ext cx="51114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4303B"/>
                </a:solidFill>
                <a:latin typeface="Aptos"/>
              </a:rPr>
              <a:t>Replicated FFT processing layer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9552" y="5550408"/>
            <a:ext cx="5111496" cy="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804A35"/>
                </a:solidFill>
                <a:latin typeface="Aptos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9552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1D1D1D"/>
                </a:solidFill>
                <a:latin typeface="Georgia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98755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900" dirty="0">
                <a:solidFill>
                  <a:srgbClr val="1D1D1D"/>
                </a:solidFill>
                <a:latin typeface="Aptos"/>
              </a:rPr>
              <a:t>The project implements a coherent distributed seismic analysis platform from ingestion to operator-facing monitoring.</a:t>
            </a:r>
          </a:p>
          <a:p>
            <a:pPr>
              <a:spcAft>
                <a:spcPts val="1000"/>
              </a:spcAft>
            </a:pPr>
            <a:r>
              <a:rPr sz="1900" dirty="0">
                <a:solidFill>
                  <a:srgbClr val="1D1D1D"/>
                </a:solidFill>
                <a:latin typeface="Aptos"/>
              </a:rPr>
              <a:t>Its main value lies in the alignment between runtime flow, duplicate-safe persistence, API design, and dashboard usability.</a:t>
            </a:r>
          </a:p>
          <a:p>
            <a:pPr>
              <a:spcAft>
                <a:spcPts val="1000"/>
              </a:spcAft>
            </a:pPr>
            <a:r>
              <a:rPr sz="1900" dirty="0">
                <a:solidFill>
                  <a:srgbClr val="1D1D1D"/>
                </a:solidFill>
                <a:latin typeface="Aptos"/>
              </a:rPr>
              <a:t>The result is technically solid because the implemented codebase matches the architectural narrative.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19088"/>
            <a:ext cx="11064240" cy="18288"/>
          </a:xfrm>
          <a:prstGeom prst="rect">
            <a:avLst/>
          </a:prstGeom>
          <a:solidFill>
            <a:srgbClr val="DAD3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6455664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56056"/>
                </a:solidFill>
                <a:latin typeface="Aptos"/>
              </a:rPr>
              <a:t>Distributed Fault-Tolerant Seismic Analysis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>
                <a:solidFill>
                  <a:srgbClr val="656056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977</Words>
  <Application>Microsoft Macintosh PowerPoint</Application>
  <PresentationFormat>Widescreen</PresentationFormat>
  <Paragraphs>201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mattia maucione</cp:lastModifiedBy>
  <cp:revision>2</cp:revision>
  <dcterms:created xsi:type="dcterms:W3CDTF">2013-01-27T09:14:16Z</dcterms:created>
  <dcterms:modified xsi:type="dcterms:W3CDTF">2026-03-31T16:53:29Z</dcterms:modified>
  <cp:category/>
</cp:coreProperties>
</file>